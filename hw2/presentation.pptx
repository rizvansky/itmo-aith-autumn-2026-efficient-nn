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4117D1B-72FD-4FC6-BBC9-21E1DFD6FC96}">
  <a:tblStyle styleId="{64117D1B-72FD-4FC6-BBC9-21E1DFD6FC9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24" Type="http://schemas.openxmlformats.org/officeDocument/2006/relationships/slide" Target="slides/slide18.xml"/><Relationship Id="rId12" Type="http://schemas.openxmlformats.org/officeDocument/2006/relationships/slide" Target="slides/slide6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h12f443daacbf5e4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h12f443daacbf5e4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h12f443daacbf5e4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h12f443daacbf5e4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h12f443daacbf5e4a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h12f443daacbf5e4a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h12f443daacbf5e4a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h12f443daacbf5e4a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h12f443daacbf5e4a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h12f443daacbf5e4a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h12f443daacbf5e4a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h12f443daacbf5e4a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h12f443daacbf5e4a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h12f443daacbf5e4a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h12f443daacbf5e4a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h12f443daacbf5e4a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h12f443daacbf5e4a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h12f443daacbf5e4a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h12f443daacbf5e4a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h12f443daacbf5e4a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h12f443daacbf5e4a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h12f443daacbf5e4a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h12f443daacbf5e4a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h12f443daacbf5e4a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h12f443daacbf5e4a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h12f443daacbf5e4a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h12f443daacbf5e4a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h12f443daacbf5e4a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h12f443daacbf5e4a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h12f443daacbf5e4a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h12f443daacbf5e4a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h12f443daacbf5e4a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h12f443daacbf5e4a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h12f443daacbf5e4a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093200"/>
            <a:ext cx="8520600" cy="29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4200"/>
              <a:t>Super-Convergence: Very Fast Training of Neural Networks Using Large Learning Rates</a:t>
            </a:r>
            <a:endParaRPr sz="4200"/>
          </a:p>
        </p:txBody>
      </p:sp>
      <p:sp>
        <p:nvSpPr>
          <p:cNvPr id="55" name="Google Shape;55;p13"/>
          <p:cNvSpPr txBox="1"/>
          <p:nvPr/>
        </p:nvSpPr>
        <p:spPr>
          <a:xfrm>
            <a:off x="1746900" y="4167100"/>
            <a:ext cx="565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Leslie N. Smith, Nicholay Topin. arXiv:1708.07120v3, 2018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/>
              <a:t>The paper's main question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Common concern: a large SGD step may </a:t>
            </a:r>
            <a:r>
              <a:rPr lang="ru" sz="1750">
                <a:solidFill>
                  <a:schemeClr val="dk1"/>
                </a:solidFill>
              </a:rPr>
              <a:t>make training unstable or cause it to diverge.</a:t>
            </a:r>
            <a:endParaRPr sz="1750">
              <a:solidFill>
                <a:schemeClr val="dk1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Char char="●"/>
            </a:pPr>
            <a:r>
              <a:rPr lang="ru" sz="1750">
                <a:solidFill>
                  <a:schemeClr val="dk1"/>
                </a:solidFill>
              </a:rPr>
              <a:t>What authors observed: raising the learning rate and then lowering it can give good accuracy in far fewer iterations.</a:t>
            </a:r>
            <a:endParaRPr sz="17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100">
                <a:solidFill>
                  <a:schemeClr val="dk1"/>
                </a:solidFill>
              </a:rPr>
              <a:t>The authors call this unusually fast training super-convergence.</a:t>
            </a:r>
            <a:endParaRPr sz="17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/>
              <a:t>The usual learning rate schedule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Piecewise constant LR: </a:t>
            </a:r>
            <a:r>
              <a:rPr lang="ru" sz="1750">
                <a:solidFill>
                  <a:schemeClr val="dk1"/>
                </a:solidFill>
              </a:rPr>
              <a:t>the learning rate stays near 0.1 for a long time. When progress stalls, it is divided by ten.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Why it is slow: </a:t>
            </a:r>
            <a:r>
              <a:rPr lang="ru" sz="1750">
                <a:solidFill>
                  <a:schemeClr val="dk1"/>
                </a:solidFill>
              </a:rPr>
              <a:t>several long phases may be needed before the model reaches its final accuracy.</a:t>
            </a:r>
            <a:endParaRPr sz="17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900">
                <a:solidFill>
                  <a:schemeClr val="dk1"/>
                </a:solidFill>
              </a:rPr>
              <a:t>The paper tests whether a large LR used early can shorten training.</a:t>
            </a:r>
            <a:endParaRPr sz="17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741"/>
              <a:buFont typeface="Arial"/>
              <a:buNone/>
            </a:pPr>
            <a:r>
              <a:rPr lang="ru" sz="2700"/>
              <a:t>Cyclical learning rates</a:t>
            </a:r>
            <a:endParaRPr sz="2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73" name="Google Shape;73;p16"/>
          <p:cNvGraphicFramePr/>
          <p:nvPr/>
        </p:nvGraphicFramePr>
        <p:xfrm>
          <a:off x="952500" y="1543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{64117D1B-72FD-4FC6-BBC9-21E1DFD6FC96}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Phase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Learning rate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Length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First half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Linear rise from min to max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stepsize iterations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Second half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Linear fall from max to min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stepsize iterations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74" name="Google Shape;74;p16"/>
          <p:cNvSpPr txBox="1"/>
          <p:nvPr/>
        </p:nvSpPr>
        <p:spPr>
          <a:xfrm>
            <a:off x="952500" y="2918675"/>
            <a:ext cx="7239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chemeClr val="dk1"/>
                </a:solidFill>
              </a:rPr>
              <a:t>One CLR cycle has two equal length phases.</a:t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75" name="Google Shape;75;p16"/>
          <p:cNvSpPr txBox="1"/>
          <p:nvPr/>
        </p:nvSpPr>
        <p:spPr>
          <a:xfrm>
            <a:off x="952500" y="3728450"/>
            <a:ext cx="72390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50">
                <a:solidFill>
                  <a:schemeClr val="dk1"/>
                </a:solidFill>
              </a:rPr>
              <a:t>Min, max, and stepsize must be chosen before training.</a:t>
            </a:r>
            <a:endParaRPr sz="17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/>
              <a:t>Choosing the learning rate bounds</a:t>
            </a:r>
            <a:endParaRPr/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913" y="1152476"/>
            <a:ext cx="7914174" cy="273075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7"/>
          <p:cNvSpPr txBox="1"/>
          <p:nvPr/>
        </p:nvSpPr>
        <p:spPr>
          <a:xfrm>
            <a:off x="311700" y="3760200"/>
            <a:ext cx="8217300" cy="7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50">
                <a:solidFill>
                  <a:schemeClr val="dk1"/>
                </a:solidFill>
              </a:rPr>
              <a:t>Figure 2: a clear peak on the left; ResNet-56 remains accurate up to LR 3.0 on the right.</a:t>
            </a:r>
            <a:endParaRPr sz="1750">
              <a:solidFill>
                <a:schemeClr val="dk1"/>
              </a:solidFill>
            </a:endParaRPr>
          </a:p>
        </p:txBody>
      </p:sp>
      <p:sp>
        <p:nvSpPr>
          <p:cNvPr id="83" name="Google Shape;83;p17"/>
          <p:cNvSpPr txBox="1"/>
          <p:nvPr/>
        </p:nvSpPr>
        <p:spPr>
          <a:xfrm>
            <a:off x="311700" y="4524000"/>
            <a:ext cx="8217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</a:rPr>
              <a:t>Set max near the peak and min roughly three to four times lower.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/>
              <a:t>The 1cycle schedule</a:t>
            </a:r>
            <a:endParaRPr/>
          </a:p>
        </p:txBody>
      </p:sp>
      <p:graphicFrame>
        <p:nvGraphicFramePr>
          <p:cNvPr id="89" name="Google Shape;89;p18"/>
          <p:cNvGraphicFramePr/>
          <p:nvPr/>
        </p:nvGraphicFramePr>
        <p:xfrm>
          <a:off x="952500" y="1352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{64117D1B-72FD-4FC6-BBC9-21E1DFD6FC96}</a:tableStyleId>
              </a:tblPr>
              <a:tblGrid>
                <a:gridCol w="1316725"/>
                <a:gridCol w="3509275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Phase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Learning rate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Purpose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Rise from min to max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Fast progress and strong regularization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Fall from max to min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Move toward a more precise solution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Fall below the initial rate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Final stabilization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90" name="Google Shape;90;p18"/>
          <p:cNvSpPr txBox="1"/>
          <p:nvPr/>
        </p:nvSpPr>
        <p:spPr>
          <a:xfrm>
            <a:off x="952500" y="3698875"/>
            <a:ext cx="7239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solidFill>
                  <a:schemeClr val="dk1"/>
                </a:solidFill>
              </a:rPr>
              <a:t>1cycle means one main cycle with a final low LR phase.</a:t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/>
              <a:t>Momentum and other settings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Momentum: </a:t>
            </a:r>
            <a:r>
              <a:rPr lang="ru" sz="1750">
                <a:solidFill>
                  <a:schemeClr val="dk1"/>
                </a:solidFill>
              </a:rPr>
              <a:t>it usually falls as LR rises, then returns while LR falls.</a:t>
            </a:r>
            <a:endParaRPr sz="1750">
              <a:solidFill>
                <a:schemeClr val="dk1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Char char="●"/>
            </a:pPr>
            <a:r>
              <a:rPr lang="ru" sz="1750">
                <a:solidFill>
                  <a:schemeClr val="dk1"/>
                </a:solidFill>
              </a:rPr>
              <a:t>MNIST example: LeNet, 12 epochs: LR 0.01-0.1, momentum 0.95-0.8, stepsize 5 epochs</a:t>
            </a:r>
            <a:endParaRPr sz="175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050">
                <a:solidFill>
                  <a:schemeClr val="dk1"/>
                </a:solidFill>
              </a:rPr>
              <a:t>LR, momentum, weight decay, and batch size affect each other.</a:t>
            </a:r>
            <a:r>
              <a:rPr lang="ru" sz="1750">
                <a:solidFill>
                  <a:schemeClr val="dk1"/>
                </a:solidFill>
              </a:rPr>
              <a:t>.</a:t>
            </a:r>
            <a:endParaRPr sz="17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/>
              <a:t>Why a large LR may help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Authors explanation: large parameter updates may keep training away from narrow minima.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Practiccal consequence: increasing LR can require less weight decay or other regularization.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900">
                <a:solidFill>
                  <a:schemeClr val="dk1"/>
                </a:solidFill>
              </a:rPr>
              <a:t>A larger LR is useful only while training remains stable.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/>
              <a:t>Estimating LR from curvature</a:t>
            </a:r>
            <a:endParaRPr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1152475"/>
            <a:ext cx="8520600" cy="12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50">
                <a:solidFill>
                  <a:schemeClr val="dk1"/>
                </a:solidFill>
              </a:rPr>
              <a:t>Expression for one parameter</a:t>
            </a:r>
            <a:endParaRPr sz="20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solidFill>
                  <a:schemeClr val="dk1"/>
                </a:solidFill>
              </a:rPr>
              <a:t>eps* = eps * (theta_(i+1) - theta_i) / (2 theta_(i+1) - theta_i - theta_(i+2))</a:t>
            </a:r>
            <a:endParaRPr sz="2050">
              <a:solidFill>
                <a:schemeClr val="dk1"/>
              </a:solidFill>
            </a:endParaRPr>
          </a:p>
        </p:txBody>
      </p:sp>
      <p:pic>
        <p:nvPicPr>
          <p:cNvPr id="109" name="Google Shape;10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425" y="2390274"/>
            <a:ext cx="8159149" cy="2131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1"/>
          <p:cNvSpPr txBox="1"/>
          <p:nvPr/>
        </p:nvSpPr>
        <p:spPr>
          <a:xfrm>
            <a:off x="492425" y="4349140"/>
            <a:ext cx="8159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</a:rPr>
              <a:t>Figure 3: the estimate reaches LR 2-6. This is an exploratory result.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/>
              <a:t>Main result: CIFAR-10 and ResNet-56</a:t>
            </a:r>
            <a:endParaRPr/>
          </a:p>
        </p:txBody>
      </p:sp>
      <p:pic>
        <p:nvPicPr>
          <p:cNvPr id="116" name="Google Shape;11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400" y="1152099"/>
            <a:ext cx="8123198" cy="22988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2"/>
          <p:cNvSpPr txBox="1"/>
          <p:nvPr/>
        </p:nvSpPr>
        <p:spPr>
          <a:xfrm>
            <a:off x="510450" y="3450925"/>
            <a:ext cx="8123100" cy="8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solidFill>
                  <a:schemeClr val="dk1"/>
                </a:solidFill>
              </a:rPr>
              <a:t>Figure 1: standard training reached 91.2% in 80,000 steps; CLR reached 92.4% in 10,000.</a:t>
            </a:r>
            <a:endParaRPr sz="1900">
              <a:solidFill>
                <a:schemeClr val="dk1"/>
              </a:solidFill>
            </a:endParaRPr>
          </a:p>
        </p:txBody>
      </p:sp>
      <p:sp>
        <p:nvSpPr>
          <p:cNvPr id="118" name="Google Shape;118;p22"/>
          <p:cNvSpPr txBox="1"/>
          <p:nvPr/>
        </p:nvSpPr>
        <p:spPr>
          <a:xfrm>
            <a:off x="510450" y="4372350"/>
            <a:ext cx="81231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50">
                <a:solidFill>
                  <a:schemeClr val="dk1"/>
                </a:solidFill>
              </a:rPr>
              <a:t>This comparison uses eight times fewer optimizer steps.</a:t>
            </a:r>
            <a:endParaRPr sz="17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/>
              <a:t>Results with less training data</a:t>
            </a:r>
            <a:endParaRPr/>
          </a:p>
        </p:txBody>
      </p:sp>
      <p:pic>
        <p:nvPicPr>
          <p:cNvPr id="124" name="Google Shape;12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9" y="1170125"/>
            <a:ext cx="8520600" cy="1843942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3"/>
          <p:cNvSpPr txBox="1"/>
          <p:nvPr/>
        </p:nvSpPr>
        <p:spPr>
          <a:xfrm>
            <a:off x="311700" y="3166475"/>
            <a:ext cx="852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</a:rPr>
              <a:t>Figure 4: the gap is especially clear with 10,000-20,000 images.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26" name="Google Shape;126;p23"/>
          <p:cNvSpPr txBox="1"/>
          <p:nvPr/>
        </p:nvSpPr>
        <p:spPr>
          <a:xfrm>
            <a:off x="311700" y="3881875"/>
            <a:ext cx="8520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</a:rPr>
              <a:t>The next slide shows the exact values and a change in the BN setting.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/>
              <a:t>Table 1: limited training data</a:t>
            </a:r>
            <a:endParaRPr/>
          </a:p>
        </p:txBody>
      </p:sp>
      <p:pic>
        <p:nvPicPr>
          <p:cNvPr id="132" name="Google Shape;13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313" y="1170125"/>
            <a:ext cx="8203375" cy="2370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4"/>
          <p:cNvSpPr txBox="1"/>
          <p:nvPr/>
        </p:nvSpPr>
        <p:spPr>
          <a:xfrm>
            <a:off x="470325" y="3540425"/>
            <a:ext cx="8203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950">
                <a:solidFill>
                  <a:schemeClr val="dk1"/>
                </a:solidFill>
              </a:rPr>
              <a:t>At 10,000 images: 71.4% versus 80.6%, a gap of 9.2 percentage points.</a:t>
            </a:r>
            <a:endParaRPr sz="1950">
              <a:solidFill>
                <a:schemeClr val="dk1"/>
              </a:solidFill>
            </a:endParaRPr>
          </a:p>
        </p:txBody>
      </p:sp>
      <p:sp>
        <p:nvSpPr>
          <p:cNvPr id="134" name="Google Shape;134;p24"/>
          <p:cNvSpPr txBox="1"/>
          <p:nvPr/>
        </p:nvSpPr>
        <p:spPr>
          <a:xfrm>
            <a:off x="470325" y="4510875"/>
            <a:ext cx="8030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50">
                <a:solidFill>
                  <a:schemeClr val="dk1"/>
                </a:solidFill>
              </a:rPr>
              <a:t>BN MAF also changes: 0.999 for PC-LR and 0.95 for CLR.</a:t>
            </a:r>
            <a:endParaRPr sz="16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/>
              <a:t>Other CIFAR-10 architectures</a:t>
            </a:r>
            <a:endParaRPr/>
          </a:p>
        </p:txBody>
      </p:sp>
      <p:graphicFrame>
        <p:nvGraphicFramePr>
          <p:cNvPr id="140" name="Google Shape;140;p25"/>
          <p:cNvGraphicFramePr/>
          <p:nvPr/>
        </p:nvGraphicFramePr>
        <p:xfrm>
          <a:off x="952500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{64117D1B-72FD-4FC6-BBC9-21E1DFD6FC96}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Architecture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Standard schedule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CLR / 1cycle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ResNet-20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88.6%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90.4%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ResNet-110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91.0%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92.1%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Wide ResNet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90.3%, 800 epochs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91.9%, 100 epochs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DenseNet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92.7%, 400 epochs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92.8%, 150 epochs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41" name="Google Shape;141;p25"/>
          <p:cNvSpPr txBox="1"/>
          <p:nvPr/>
        </p:nvSpPr>
        <p:spPr>
          <a:xfrm>
            <a:off x="952500" y="3993600"/>
            <a:ext cx="7239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solidFill>
                  <a:schemeClr val="dk1"/>
                </a:solidFill>
              </a:rPr>
              <a:t>Several networks benefit, but the size of the gain varies.</a:t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/>
              <a:t>CIFAR-100: accuracy by training length</a:t>
            </a:r>
            <a:endParaRPr/>
          </a:p>
        </p:txBody>
      </p:sp>
      <p:graphicFrame>
        <p:nvGraphicFramePr>
          <p:cNvPr id="147" name="Google Shape;147;p26"/>
          <p:cNvGraphicFramePr/>
          <p:nvPr/>
        </p:nvGraphicFramePr>
        <p:xfrm>
          <a:off x="952500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{64117D1B-72FD-4FC6-BBC9-21E1DFD6FC96}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Schedule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Epochs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Accuracy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Standard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200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61.6%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1cycle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25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65.4%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1cycle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50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66.4%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1cycle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100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69.0%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48" name="Google Shape;148;p26"/>
          <p:cNvSpPr txBox="1"/>
          <p:nvPr/>
        </p:nvSpPr>
        <p:spPr>
          <a:xfrm>
            <a:off x="952500" y="3810000"/>
            <a:ext cx="7239000" cy="8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solidFill>
                  <a:schemeClr val="dk1"/>
                </a:solidFill>
              </a:rPr>
              <a:t>Even 25 epochs of 1cycle beat 200 epochs of standard training in this table.</a:t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/>
              <a:t>MNIST and LeNet: Table 2</a:t>
            </a:r>
            <a:endParaRPr/>
          </a:p>
        </p:txBody>
      </p:sp>
      <p:graphicFrame>
        <p:nvGraphicFramePr>
          <p:cNvPr id="154" name="Google Shape;154;p27"/>
          <p:cNvGraphicFramePr/>
          <p:nvPr/>
        </p:nvGraphicFramePr>
        <p:xfrm>
          <a:off x="952500" y="1238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{64117D1B-72FD-4FC6-BBC9-21E1DFD6FC96}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Schedule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Epochs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Accuracy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Inverse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85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99.03%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Step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85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99.00%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1cycle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12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99.25%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1cycle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25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99.28%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1cycle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50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99.27%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1cycle, LR 0.02-0.2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85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99.35%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55" name="Google Shape;155;p27"/>
          <p:cNvSpPr txBox="1"/>
          <p:nvPr/>
        </p:nvSpPr>
        <p:spPr>
          <a:xfrm>
            <a:off x="952500" y="4232175"/>
            <a:ext cx="7239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</a:rPr>
              <a:t>For 12 epochs: LR 0.01-0.1, momentum 0.95-0.8, stepsize 5 epochs.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/>
              <a:t>ImageNet: larger models</a:t>
            </a:r>
            <a:endParaRPr/>
          </a:p>
        </p:txBody>
      </p:sp>
      <p:pic>
        <p:nvPicPr>
          <p:cNvPr id="161" name="Google Shape;16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1100" y="1188075"/>
            <a:ext cx="7341800" cy="189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8"/>
          <p:cNvSpPr txBox="1"/>
          <p:nvPr/>
        </p:nvSpPr>
        <p:spPr>
          <a:xfrm>
            <a:off x="901100" y="3252800"/>
            <a:ext cx="7341900" cy="7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50">
                <a:solidFill>
                  <a:schemeClr val="dk1"/>
                </a:solidFill>
              </a:rPr>
              <a:t>Figure 6: ResNet-50, 63.7% vs 67.6%; Inception-ResNet-v2, 67.6% vs 74.0%.</a:t>
            </a:r>
            <a:endParaRPr sz="1750">
              <a:solidFill>
                <a:schemeClr val="dk1"/>
              </a:solidFill>
            </a:endParaRPr>
          </a:p>
        </p:txBody>
      </p:sp>
      <p:sp>
        <p:nvSpPr>
          <p:cNvPr id="163" name="Google Shape;163;p28"/>
          <p:cNvSpPr txBox="1"/>
          <p:nvPr/>
        </p:nvSpPr>
        <p:spPr>
          <a:xfrm>
            <a:off x="901100" y="4295250"/>
            <a:ext cx="7341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</a:rPr>
              <a:t>Weight decay also changed. The curves average two runs.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/>
              <a:t>Batch size and batch normalization</a:t>
            </a:r>
            <a:endParaRPr/>
          </a:p>
        </p:txBody>
      </p:sp>
      <p:pic>
        <p:nvPicPr>
          <p:cNvPr id="169" name="Google Shape;16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925" y="1277950"/>
            <a:ext cx="8384152" cy="1864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9"/>
          <p:cNvSpPr txBox="1"/>
          <p:nvPr/>
        </p:nvSpPr>
        <p:spPr>
          <a:xfrm>
            <a:off x="379925" y="3142200"/>
            <a:ext cx="838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</a:rPr>
              <a:t>Figure 5: larger batches worked better under these settings.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71" name="Google Shape;171;p29"/>
          <p:cNvSpPr txBox="1"/>
          <p:nvPr/>
        </p:nvSpPr>
        <p:spPr>
          <a:xfrm>
            <a:off x="379925" y="3863900"/>
            <a:ext cx="8384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</a:rPr>
              <a:t>The authors also reduced BN moving_average_fraction from 0.999 to 0.95.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700"/>
              <a:t>Takeaways from the paper</a:t>
            </a:r>
            <a:endParaRPr/>
          </a:p>
        </p:txBody>
      </p:sp>
      <p:sp>
        <p:nvSpPr>
          <p:cNvPr id="177" name="Google Shape;177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Run an LR range test and choose the bounds.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Use one rise-and-fall LR cycle.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Finish training and a very small LR.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Tune momentum, weight decay, and BN statistics.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Compare accuracy and training time with a baseline.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Main idea: a large LR can speed up training and act as a regularization.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